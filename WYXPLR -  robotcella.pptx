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59" r:id="rId6"/>
    <p:sldId id="265" r:id="rId7"/>
    <p:sldId id="260" r:id="rId8"/>
    <p:sldId id="261" r:id="rId9"/>
    <p:sldId id="262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8531"/>
    <a:srgbClr val="C76013"/>
    <a:srgbClr val="CB6614"/>
    <a:srgbClr val="E97A1F"/>
    <a:srgbClr val="ED954D"/>
    <a:srgbClr val="F1AA6F"/>
    <a:srgbClr val="C75E00"/>
    <a:srgbClr val="EE9A54"/>
    <a:srgbClr val="FFFFFF"/>
    <a:srgbClr val="DD89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2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71134" y="260351"/>
            <a:ext cx="7871884" cy="1109663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lvl="0"/>
            <a:r>
              <a:rPr lang="hu-HU" noProof="0"/>
              <a:t>Mintacím szerkesztése</a:t>
            </a:r>
            <a:endParaRPr lang="ru-RU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71134" y="1147763"/>
            <a:ext cx="7871884" cy="696912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 sz="2400" b="1"/>
            </a:lvl1pPr>
          </a:lstStyle>
          <a:p>
            <a:pPr lvl="0"/>
            <a:r>
              <a:rPr lang="hu-HU" noProof="0"/>
              <a:t>Kattintson ide az alcím mintájának szerkesztéséhez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8595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7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4738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27051" y="1268413"/>
            <a:ext cx="4842933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573184" y="1268413"/>
            <a:ext cx="4842933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81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55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04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603346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hu-HU" noProof="0"/>
              <a:t>Kép beszúrásához kattintson az ikonra</a:t>
            </a:r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292274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282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943851" y="333375"/>
            <a:ext cx="2472267" cy="604678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27051" y="333375"/>
            <a:ext cx="7213600" cy="604678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42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7051" y="333375"/>
            <a:ext cx="9889067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dirty="0"/>
              <a:t>Mintacím szerkesztése</a:t>
            </a:r>
            <a:endParaRPr lang="ru-RU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268413"/>
            <a:ext cx="9889067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62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400" b="1">
          <a:solidFill>
            <a:schemeClr val="bg1"/>
          </a:solidFill>
          <a:latin typeface="Franklin Gothic Book" panose="020B05030201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80808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rgbClr val="080808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80808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80808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80808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80808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80808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80808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80808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2B2CE2-6655-B63E-7EA3-81E4F72C6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709" y="231776"/>
            <a:ext cx="7871884" cy="1109663"/>
          </a:xfrm>
        </p:spPr>
        <p:txBody>
          <a:bodyPr/>
          <a:lstStyle/>
          <a:p>
            <a:r>
              <a:rPr lang="hu-HU" sz="5400" dirty="0"/>
              <a:t>Robotcella tervezés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9C31712-E0F3-052E-25C0-B13852CC7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709" y="1119188"/>
            <a:ext cx="7871884" cy="696912"/>
          </a:xfrm>
        </p:spPr>
        <p:txBody>
          <a:bodyPr/>
          <a:lstStyle/>
          <a:p>
            <a:r>
              <a:rPr lang="hu-HU" sz="3600" dirty="0"/>
              <a:t>Készítette: Pintér Mátyás</a:t>
            </a:r>
          </a:p>
        </p:txBody>
      </p:sp>
    </p:spTree>
    <p:extLst>
      <p:ext uri="{BB962C8B-B14F-4D97-AF65-F5344CB8AC3E}">
        <p14:creationId xmlns:p14="http://schemas.microsoft.com/office/powerpoint/2010/main" val="150973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CC4B2E-DED4-F41F-10D5-CDAAC47D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latin typeface="Franklin Gothic Book" panose="020B0503020102020204" pitchFamily="34" charset="0"/>
              </a:rPr>
              <a:t>A projekt röviden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B5A0BC-501B-3D11-DF1E-E367D9E82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Inspiráció</a:t>
            </a:r>
          </a:p>
          <a:p>
            <a:endParaRPr lang="hu-H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Ipari robotcella megtervezése</a:t>
            </a:r>
          </a:p>
          <a:p>
            <a:endParaRPr lang="hu-H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Folyatófúró csavarozás – FDS</a:t>
            </a:r>
          </a:p>
          <a:p>
            <a:endParaRPr lang="hu-H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Sorozatgyártás</a:t>
            </a:r>
          </a:p>
        </p:txBody>
      </p:sp>
    </p:spTree>
    <p:extLst>
      <p:ext uri="{BB962C8B-B14F-4D97-AF65-F5344CB8AC3E}">
        <p14:creationId xmlns:p14="http://schemas.microsoft.com/office/powerpoint/2010/main" val="4270904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5FEC7E-720E-BCDD-A841-348759D8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latin typeface="Franklin Gothic Book" panose="020B0503020102020204" pitchFamily="34" charset="0"/>
              </a:rPr>
              <a:t>Csavarozási módszer</a:t>
            </a:r>
          </a:p>
        </p:txBody>
      </p:sp>
      <p:pic>
        <p:nvPicPr>
          <p:cNvPr id="1026" name="Picture 2" descr="Flow Drill Fastening - New Screwing Technology Used In The Automobile ...">
            <a:extLst>
              <a:ext uri="{FF2B5EF4-FFF2-40B4-BE49-F238E27FC236}">
                <a16:creationId xmlns:a16="http://schemas.microsoft.com/office/drawing/2014/main" id="{A9E6DF33-46FD-1E39-A131-43A5CC111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1" y="3275013"/>
            <a:ext cx="45148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lyamatábra: Befejezés 3">
            <a:extLst>
              <a:ext uri="{FF2B5EF4-FFF2-40B4-BE49-F238E27FC236}">
                <a16:creationId xmlns:a16="http://schemas.microsoft.com/office/drawing/2014/main" id="{DD354963-D3A9-F129-0501-FE9B5BA4D7F8}"/>
              </a:ext>
            </a:extLst>
          </p:cNvPr>
          <p:cNvSpPr/>
          <p:nvPr/>
        </p:nvSpPr>
        <p:spPr bwMode="auto">
          <a:xfrm>
            <a:off x="1850571" y="1361186"/>
            <a:ext cx="8490857" cy="1739476"/>
          </a:xfrm>
          <a:prstGeom prst="flowChartTerminator">
            <a:avLst/>
          </a:prstGeom>
          <a:gradFill flip="none" rotWithShape="1">
            <a:gsLst>
              <a:gs pos="0">
                <a:srgbClr val="C75E00"/>
              </a:gs>
              <a:gs pos="57000">
                <a:srgbClr val="DD8915"/>
              </a:gs>
              <a:gs pos="100000">
                <a:srgbClr val="C75E00"/>
              </a:gs>
            </a:gsLst>
            <a:path path="shap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4D71405-9E0A-01CD-03C6-A150001CA244}"/>
              </a:ext>
            </a:extLst>
          </p:cNvPr>
          <p:cNvSpPr txBox="1"/>
          <p:nvPr/>
        </p:nvSpPr>
        <p:spPr>
          <a:xfrm>
            <a:off x="1850570" y="1569204"/>
            <a:ext cx="8490857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4000" dirty="0">
                <a:solidFill>
                  <a:schemeClr val="tx2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Folyatófúró csavarozás – </a:t>
            </a:r>
            <a:br>
              <a:rPr lang="hu-HU" sz="4000" dirty="0">
                <a:solidFill>
                  <a:schemeClr val="tx2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4000" dirty="0">
                <a:solidFill>
                  <a:schemeClr val="tx2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Flow Drill </a:t>
            </a:r>
            <a:r>
              <a:rPr lang="hu-HU" sz="4000" dirty="0" err="1">
                <a:solidFill>
                  <a:schemeClr val="tx2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Screwing</a:t>
            </a:r>
            <a:endParaRPr lang="hu-HU" sz="4000" dirty="0">
              <a:solidFill>
                <a:schemeClr val="tx2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9F4064C1-3441-DADC-D182-CFC2187B864D}"/>
              </a:ext>
            </a:extLst>
          </p:cNvPr>
          <p:cNvSpPr/>
          <p:nvPr/>
        </p:nvSpPr>
        <p:spPr bwMode="auto">
          <a:xfrm>
            <a:off x="8640679" y="5133474"/>
            <a:ext cx="3497179" cy="172452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30" name="Picture 6" descr="FDS® | Flow drilling screws | Direct fastening | EJOT Industry">
            <a:extLst>
              <a:ext uri="{FF2B5EF4-FFF2-40B4-BE49-F238E27FC236}">
                <a16:creationId xmlns:a16="http://schemas.microsoft.com/office/drawing/2014/main" id="{8749E7D5-750C-1E6A-97E7-D33AA33DC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01" y="3308680"/>
            <a:ext cx="3726181" cy="310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8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99D356-18E9-0AAC-475B-DBD0AB14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5400" dirty="0">
                <a:latin typeface="Franklin Gothic Book" panose="020B0503020102020204" pitchFamily="34" charset="0"/>
              </a:rPr>
              <a:t>A robot, és vezérlője</a:t>
            </a:r>
          </a:p>
        </p:txBody>
      </p:sp>
      <p:pic>
        <p:nvPicPr>
          <p:cNvPr id="2050" name="Picture 2" descr="KUKA KR 210 R2700-2 - Industrial robot | Robotec">
            <a:extLst>
              <a:ext uri="{FF2B5EF4-FFF2-40B4-BE49-F238E27FC236}">
                <a16:creationId xmlns:a16="http://schemas.microsoft.com/office/drawing/2014/main" id="{AE0F913D-DF04-ACE4-6560-E95DB9EA3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779" y="587375"/>
            <a:ext cx="4224578" cy="800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églalap 3">
            <a:extLst>
              <a:ext uri="{FF2B5EF4-FFF2-40B4-BE49-F238E27FC236}">
                <a16:creationId xmlns:a16="http://schemas.microsoft.com/office/drawing/2014/main" id="{59F05D4A-EE89-3BA3-403B-378BD7195BB5}"/>
              </a:ext>
            </a:extLst>
          </p:cNvPr>
          <p:cNvSpPr/>
          <p:nvPr/>
        </p:nvSpPr>
        <p:spPr bwMode="auto">
          <a:xfrm>
            <a:off x="8640679" y="5123949"/>
            <a:ext cx="3497179" cy="172452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052" name="Picture 4" descr="Das kann die Robotersteuerung KR C5 | Konstruktion &amp; Entwicklung ...">
            <a:extLst>
              <a:ext uri="{FF2B5EF4-FFF2-40B4-BE49-F238E27FC236}">
                <a16:creationId xmlns:a16="http://schemas.microsoft.com/office/drawing/2014/main" id="{D32BE28B-F1B6-483B-AA71-4783F4538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227" y="3708918"/>
            <a:ext cx="4519631" cy="301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Csoportba foglalás 21">
            <a:extLst>
              <a:ext uri="{FF2B5EF4-FFF2-40B4-BE49-F238E27FC236}">
                <a16:creationId xmlns:a16="http://schemas.microsoft.com/office/drawing/2014/main" id="{9BFF8882-6442-CB24-FF98-5D36C45F06FB}"/>
              </a:ext>
            </a:extLst>
          </p:cNvPr>
          <p:cNvGrpSpPr/>
          <p:nvPr/>
        </p:nvGrpSpPr>
        <p:grpSpPr>
          <a:xfrm>
            <a:off x="278995" y="1744663"/>
            <a:ext cx="4926565" cy="4593772"/>
            <a:chOff x="401215" y="1268413"/>
            <a:chExt cx="4926565" cy="4593772"/>
          </a:xfrm>
        </p:grpSpPr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6F83DA30-6DBB-0ED4-F548-F772E395B836}"/>
                </a:ext>
              </a:extLst>
            </p:cNvPr>
            <p:cNvSpPr/>
            <p:nvPr/>
          </p:nvSpPr>
          <p:spPr bwMode="auto">
            <a:xfrm>
              <a:off x="401216" y="1268413"/>
              <a:ext cx="4926563" cy="194131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" name="Téglalap 5">
              <a:extLst>
                <a:ext uri="{FF2B5EF4-FFF2-40B4-BE49-F238E27FC236}">
                  <a16:creationId xmlns:a16="http://schemas.microsoft.com/office/drawing/2014/main" id="{A1EDAB80-8275-A0D2-1176-FB20013E20CF}"/>
                </a:ext>
              </a:extLst>
            </p:cNvPr>
            <p:cNvSpPr/>
            <p:nvPr/>
          </p:nvSpPr>
          <p:spPr bwMode="auto">
            <a:xfrm>
              <a:off x="401215" y="3296266"/>
              <a:ext cx="2341063" cy="153699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15" name="Csoportba foglalás 14">
              <a:extLst>
                <a:ext uri="{FF2B5EF4-FFF2-40B4-BE49-F238E27FC236}">
                  <a16:creationId xmlns:a16="http://schemas.microsoft.com/office/drawing/2014/main" id="{F940CFDE-AD20-7178-9D02-86A6F5C7E583}"/>
                </a:ext>
              </a:extLst>
            </p:cNvPr>
            <p:cNvGrpSpPr/>
            <p:nvPr/>
          </p:nvGrpSpPr>
          <p:grpSpPr>
            <a:xfrm>
              <a:off x="401215" y="1268413"/>
              <a:ext cx="4926565" cy="4593772"/>
              <a:chOff x="401215" y="1268413"/>
              <a:chExt cx="4926565" cy="4593772"/>
            </a:xfrm>
            <a:gradFill>
              <a:gsLst>
                <a:gs pos="0">
                  <a:srgbClr val="C75E00"/>
                </a:gs>
                <a:gs pos="57000">
                  <a:srgbClr val="DD8915"/>
                </a:gs>
                <a:gs pos="100000">
                  <a:srgbClr val="C75E00"/>
                </a:gs>
              </a:gsLst>
              <a:lin ang="5400000" scaled="1"/>
            </a:gradFill>
          </p:grpSpPr>
          <p:sp>
            <p:nvSpPr>
              <p:cNvPr id="11" name="Téglalap 10">
                <a:extLst>
                  <a:ext uri="{FF2B5EF4-FFF2-40B4-BE49-F238E27FC236}">
                    <a16:creationId xmlns:a16="http://schemas.microsoft.com/office/drawing/2014/main" id="{B69879AD-37A9-CA92-065B-C70DC0253DB2}"/>
                  </a:ext>
                </a:extLst>
              </p:cNvPr>
              <p:cNvSpPr/>
              <p:nvPr/>
            </p:nvSpPr>
            <p:spPr bwMode="auto">
              <a:xfrm>
                <a:off x="2911907" y="3296266"/>
                <a:ext cx="2412000" cy="1536992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hu-HU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2" name="Téglalap 11">
                <a:extLst>
                  <a:ext uri="{FF2B5EF4-FFF2-40B4-BE49-F238E27FC236}">
                    <a16:creationId xmlns:a16="http://schemas.microsoft.com/office/drawing/2014/main" id="{AAF93836-D489-A817-B500-0FB28758259C}"/>
                  </a:ext>
                </a:extLst>
              </p:cNvPr>
              <p:cNvSpPr/>
              <p:nvPr/>
            </p:nvSpPr>
            <p:spPr bwMode="auto">
              <a:xfrm>
                <a:off x="401216" y="4919793"/>
                <a:ext cx="4926563" cy="942392"/>
              </a:xfrm>
              <a:prstGeom prst="rect">
                <a:avLst/>
              </a:prstGeom>
              <a:gradFill>
                <a:gsLst>
                  <a:gs pos="0">
                    <a:srgbClr val="C75E00"/>
                  </a:gs>
                  <a:gs pos="57000">
                    <a:srgbClr val="DD8915"/>
                  </a:gs>
                  <a:gs pos="100000">
                    <a:srgbClr val="C75E00"/>
                  </a:gs>
                </a:gsLst>
                <a:lin ang="5400000" scaled="1"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hu-HU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" name="Téglalap 12">
                <a:extLst>
                  <a:ext uri="{FF2B5EF4-FFF2-40B4-BE49-F238E27FC236}">
                    <a16:creationId xmlns:a16="http://schemas.microsoft.com/office/drawing/2014/main" id="{14CCD07A-87AC-FD68-AECA-69FB25B477D3}"/>
                  </a:ext>
                </a:extLst>
              </p:cNvPr>
              <p:cNvSpPr/>
              <p:nvPr/>
            </p:nvSpPr>
            <p:spPr bwMode="auto">
              <a:xfrm>
                <a:off x="401217" y="1268413"/>
                <a:ext cx="4926563" cy="1941318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hu-HU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" name="Téglalap 13">
                <a:extLst>
                  <a:ext uri="{FF2B5EF4-FFF2-40B4-BE49-F238E27FC236}">
                    <a16:creationId xmlns:a16="http://schemas.microsoft.com/office/drawing/2014/main" id="{1C7EA7C8-F8B0-7A5A-8288-7DA2ACCACF13}"/>
                  </a:ext>
                </a:extLst>
              </p:cNvPr>
              <p:cNvSpPr/>
              <p:nvPr/>
            </p:nvSpPr>
            <p:spPr bwMode="auto">
              <a:xfrm>
                <a:off x="401215" y="3296266"/>
                <a:ext cx="2412000" cy="1536992"/>
              </a:xfrm>
              <a:prstGeom prst="rect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hu-HU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CA44E56F-63CD-9686-4AA6-8195B3C4E257}"/>
                </a:ext>
              </a:extLst>
            </p:cNvPr>
            <p:cNvSpPr txBox="1"/>
            <p:nvPr/>
          </p:nvSpPr>
          <p:spPr>
            <a:xfrm>
              <a:off x="401215" y="1700463"/>
              <a:ext cx="4922692" cy="107721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tx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KUKA KR QUANTEC - KUKA KR 210 R2700-2</a:t>
              </a:r>
            </a:p>
          </p:txBody>
        </p:sp>
        <p:sp>
          <p:nvSpPr>
            <p:cNvPr id="17" name="Szövegdoboz 16">
              <a:extLst>
                <a:ext uri="{FF2B5EF4-FFF2-40B4-BE49-F238E27FC236}">
                  <a16:creationId xmlns:a16="http://schemas.microsoft.com/office/drawing/2014/main" id="{B13B09AF-9FA4-1CD5-84D7-13854365AE40}"/>
                </a:ext>
              </a:extLst>
            </p:cNvPr>
            <p:cNvSpPr txBox="1"/>
            <p:nvPr/>
          </p:nvSpPr>
          <p:spPr>
            <a:xfrm>
              <a:off x="401215" y="3772374"/>
              <a:ext cx="492656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hu-HU" sz="3200" dirty="0">
                  <a:solidFill>
                    <a:schemeClr val="tx1">
                      <a:lumMod val="75000"/>
                    </a:schemeClr>
                  </a:solidFill>
                </a:rPr>
                <a:t>  </a:t>
              </a:r>
              <a:r>
                <a:rPr lang="hu-HU" sz="3200" dirty="0">
                  <a:solidFill>
                    <a:schemeClr val="tx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2700 mm    210 kg</a:t>
              </a:r>
            </a:p>
          </p:txBody>
        </p:sp>
        <p:sp>
          <p:nvSpPr>
            <p:cNvPr id="21" name="Szövegdoboz 20">
              <a:extLst>
                <a:ext uri="{FF2B5EF4-FFF2-40B4-BE49-F238E27FC236}">
                  <a16:creationId xmlns:a16="http://schemas.microsoft.com/office/drawing/2014/main" id="{850247E9-8516-4D40-B6E4-8A778E9F8EA8}"/>
                </a:ext>
              </a:extLst>
            </p:cNvPr>
            <p:cNvSpPr txBox="1"/>
            <p:nvPr/>
          </p:nvSpPr>
          <p:spPr>
            <a:xfrm>
              <a:off x="401215" y="5087258"/>
              <a:ext cx="492656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tx1">
                      <a:lumMod val="7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KR C5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836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1A90CBF9-5878-87D5-27BE-D2EBE2D3FE9F}"/>
              </a:ext>
            </a:extLst>
          </p:cNvPr>
          <p:cNvSpPr/>
          <p:nvPr/>
        </p:nvSpPr>
        <p:spPr bwMode="auto">
          <a:xfrm>
            <a:off x="8685296" y="5082675"/>
            <a:ext cx="3497179" cy="172452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9634893-532F-63A0-14ED-25C4F0E3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Csavarozó egység</a:t>
            </a:r>
          </a:p>
        </p:txBody>
      </p:sp>
      <p:pic>
        <p:nvPicPr>
          <p:cNvPr id="3076" name="Picture 4" descr="K-Flow HLX 70 Magazin für schnelleres und unterbrechungsfreies Fügen ...">
            <a:extLst>
              <a:ext uri="{FF2B5EF4-FFF2-40B4-BE49-F238E27FC236}">
                <a16:creationId xmlns:a16="http://schemas.microsoft.com/office/drawing/2014/main" id="{4BC09B6C-2D52-877F-CD9F-6080162B4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936" y="1460064"/>
            <a:ext cx="3257589" cy="491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1CBE6A89-B20A-BC85-58FE-ED15CF3BD9A1}"/>
              </a:ext>
            </a:extLst>
          </p:cNvPr>
          <p:cNvGrpSpPr/>
          <p:nvPr/>
        </p:nvGrpSpPr>
        <p:grpSpPr>
          <a:xfrm>
            <a:off x="238125" y="1368860"/>
            <a:ext cx="7153236" cy="5365317"/>
            <a:chOff x="238125" y="1368860"/>
            <a:chExt cx="7153236" cy="5365317"/>
          </a:xfrm>
          <a:gradFill>
            <a:gsLst>
              <a:gs pos="0">
                <a:srgbClr val="C75E00"/>
              </a:gs>
              <a:gs pos="50000">
                <a:srgbClr val="CD6906"/>
              </a:gs>
              <a:gs pos="75000">
                <a:srgbClr val="DD8915"/>
              </a:gs>
              <a:gs pos="25000">
                <a:srgbClr val="DD8915"/>
              </a:gs>
              <a:gs pos="100000">
                <a:srgbClr val="C75E00"/>
              </a:gs>
            </a:gsLst>
            <a:lin ang="5400000" scaled="1"/>
          </a:gradFill>
        </p:grpSpPr>
        <p:sp>
          <p:nvSpPr>
            <p:cNvPr id="6" name="Nyíl: ötszög 5">
              <a:extLst>
                <a:ext uri="{FF2B5EF4-FFF2-40B4-BE49-F238E27FC236}">
                  <a16:creationId xmlns:a16="http://schemas.microsoft.com/office/drawing/2014/main" id="{D9F20B7F-5525-B7DE-F4A8-0D8004BFF8CC}"/>
                </a:ext>
              </a:extLst>
            </p:cNvPr>
            <p:cNvSpPr/>
            <p:nvPr/>
          </p:nvSpPr>
          <p:spPr bwMode="auto">
            <a:xfrm rot="5400000">
              <a:off x="3332121" y="3170177"/>
              <a:ext cx="1008000" cy="6120000"/>
            </a:xfrm>
            <a:prstGeom prst="homePlat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19028E2E-B7C2-D33F-9212-E35CA5E21B1E}"/>
                </a:ext>
              </a:extLst>
            </p:cNvPr>
            <p:cNvSpPr/>
            <p:nvPr/>
          </p:nvSpPr>
          <p:spPr bwMode="auto">
            <a:xfrm>
              <a:off x="752476" y="4646966"/>
              <a:ext cx="6120000" cy="100648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Téglalap 9">
              <a:extLst>
                <a:ext uri="{FF2B5EF4-FFF2-40B4-BE49-F238E27FC236}">
                  <a16:creationId xmlns:a16="http://schemas.microsoft.com/office/drawing/2014/main" id="{D5208F91-54BA-7184-10C8-B3C8F7D5D6C7}"/>
                </a:ext>
              </a:extLst>
            </p:cNvPr>
            <p:cNvSpPr/>
            <p:nvPr/>
          </p:nvSpPr>
          <p:spPr bwMode="auto">
            <a:xfrm>
              <a:off x="752475" y="3567755"/>
              <a:ext cx="6120000" cy="100648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D3C3019A-5BE0-A58C-817A-7979EFCFBC16}"/>
                </a:ext>
              </a:extLst>
            </p:cNvPr>
            <p:cNvSpPr/>
            <p:nvPr/>
          </p:nvSpPr>
          <p:spPr bwMode="auto">
            <a:xfrm>
              <a:off x="752475" y="2488544"/>
              <a:ext cx="6120000" cy="100648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14" name="Csoportba foglalás 13">
              <a:extLst>
                <a:ext uri="{FF2B5EF4-FFF2-40B4-BE49-F238E27FC236}">
                  <a16:creationId xmlns:a16="http://schemas.microsoft.com/office/drawing/2014/main" id="{889A97E0-FED6-6C5F-F215-5101899FC4E5}"/>
                </a:ext>
              </a:extLst>
            </p:cNvPr>
            <p:cNvGrpSpPr/>
            <p:nvPr/>
          </p:nvGrpSpPr>
          <p:grpSpPr>
            <a:xfrm>
              <a:off x="238125" y="1368860"/>
              <a:ext cx="7153236" cy="1046953"/>
              <a:chOff x="171450" y="1304890"/>
              <a:chExt cx="7153236" cy="974335"/>
            </a:xfrm>
            <a:grpFill/>
          </p:grpSpPr>
          <p:sp>
            <p:nvSpPr>
              <p:cNvPr id="12" name="Téglalap 11">
                <a:extLst>
                  <a:ext uri="{FF2B5EF4-FFF2-40B4-BE49-F238E27FC236}">
                    <a16:creationId xmlns:a16="http://schemas.microsoft.com/office/drawing/2014/main" id="{9977BE43-C72E-9A12-D437-393DD77E516F}"/>
                  </a:ext>
                </a:extLst>
              </p:cNvPr>
              <p:cNvSpPr/>
              <p:nvPr/>
            </p:nvSpPr>
            <p:spPr bwMode="auto">
              <a:xfrm>
                <a:off x="171450" y="1771224"/>
                <a:ext cx="7153236" cy="508001"/>
              </a:xfrm>
              <a:prstGeom prst="rect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hu-HU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" name="Téglalap 12">
                <a:extLst>
                  <a:ext uri="{FF2B5EF4-FFF2-40B4-BE49-F238E27FC236}">
                    <a16:creationId xmlns:a16="http://schemas.microsoft.com/office/drawing/2014/main" id="{7B582C78-E7F2-EB5C-76F5-A694C2F8EA0D}"/>
                  </a:ext>
                </a:extLst>
              </p:cNvPr>
              <p:cNvSpPr/>
              <p:nvPr/>
            </p:nvSpPr>
            <p:spPr bwMode="auto">
              <a:xfrm>
                <a:off x="2259900" y="1304890"/>
                <a:ext cx="2971800" cy="797295"/>
              </a:xfrm>
              <a:prstGeom prst="rect">
                <a:avLst/>
              </a:prstGeom>
              <a:grp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hu-HU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7B9ADA5-0857-3C9B-B5B9-8FE80DB34632}"/>
              </a:ext>
            </a:extLst>
          </p:cNvPr>
          <p:cNvSpPr txBox="1"/>
          <p:nvPr/>
        </p:nvSpPr>
        <p:spPr>
          <a:xfrm>
            <a:off x="776121" y="5746464"/>
            <a:ext cx="61200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Beépített </a:t>
            </a:r>
            <a:r>
              <a:rPr lang="hu-HU" sz="3200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szenzorika</a:t>
            </a:r>
            <a:endParaRPr lang="hu-HU" sz="3200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DA7D1EA-62A0-762D-B326-4EE2D46052A5}"/>
              </a:ext>
            </a:extLst>
          </p:cNvPr>
          <p:cNvSpPr txBox="1"/>
          <p:nvPr/>
        </p:nvSpPr>
        <p:spPr>
          <a:xfrm>
            <a:off x="776121" y="3767394"/>
            <a:ext cx="609635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1500-3000 N nyomóerőt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26463853-70C8-23C9-A82A-CD06F72CC7E6}"/>
              </a:ext>
            </a:extLst>
          </p:cNvPr>
          <p:cNvSpPr txBox="1"/>
          <p:nvPr/>
        </p:nvSpPr>
        <p:spPr>
          <a:xfrm>
            <a:off x="752475" y="2699396"/>
            <a:ext cx="61200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6000-8000 fordulat/perc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B64AF006-E5E0-0DBC-D75E-688D52AA4B0E}"/>
              </a:ext>
            </a:extLst>
          </p:cNvPr>
          <p:cNvSpPr txBox="1"/>
          <p:nvPr/>
        </p:nvSpPr>
        <p:spPr>
          <a:xfrm>
            <a:off x="2326575" y="1373965"/>
            <a:ext cx="2971800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Atlas </a:t>
            </a:r>
            <a:r>
              <a:rPr lang="hu-HU" sz="3200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Copco</a:t>
            </a:r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FDS – HLX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221A673B-5582-54CA-9D91-4C62536E7572}"/>
              </a:ext>
            </a:extLst>
          </p:cNvPr>
          <p:cNvSpPr txBox="1"/>
          <p:nvPr/>
        </p:nvSpPr>
        <p:spPr>
          <a:xfrm>
            <a:off x="778291" y="4857819"/>
            <a:ext cx="609635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Megfelelő robotmerevség</a:t>
            </a:r>
          </a:p>
        </p:txBody>
      </p:sp>
    </p:spTree>
    <p:extLst>
      <p:ext uri="{BB962C8B-B14F-4D97-AF65-F5344CB8AC3E}">
        <p14:creationId xmlns:p14="http://schemas.microsoft.com/office/powerpoint/2010/main" val="3426676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4A74E1-C0CF-DA80-913D-5A9A3ACD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Csavaradagoló</a:t>
            </a:r>
          </a:p>
        </p:txBody>
      </p:sp>
      <p:sp>
        <p:nvSpPr>
          <p:cNvPr id="15" name="Folyamatábra: Döntés 14">
            <a:extLst>
              <a:ext uri="{FF2B5EF4-FFF2-40B4-BE49-F238E27FC236}">
                <a16:creationId xmlns:a16="http://schemas.microsoft.com/office/drawing/2014/main" id="{3B1F23B4-64D6-8201-B326-A24D2879FBBB}"/>
              </a:ext>
            </a:extLst>
          </p:cNvPr>
          <p:cNvSpPr/>
          <p:nvPr/>
        </p:nvSpPr>
        <p:spPr bwMode="auto">
          <a:xfrm>
            <a:off x="1553449" y="1828662"/>
            <a:ext cx="2880000" cy="2880000"/>
          </a:xfrm>
          <a:prstGeom prst="flowChartDecision">
            <a:avLst/>
          </a:prstGeom>
          <a:gradFill>
            <a:gsLst>
              <a:gs pos="25000">
                <a:srgbClr val="C75E00"/>
              </a:gs>
              <a:gs pos="50000">
                <a:srgbClr val="DD8915"/>
              </a:gs>
              <a:gs pos="75000">
                <a:srgbClr val="C75E00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2B402049-0D0C-C5FF-01FE-53C228FAF91B}"/>
              </a:ext>
            </a:extLst>
          </p:cNvPr>
          <p:cNvSpPr/>
          <p:nvPr/>
        </p:nvSpPr>
        <p:spPr bwMode="auto">
          <a:xfrm>
            <a:off x="8685296" y="5133474"/>
            <a:ext cx="3497179" cy="172452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Folyamatábra: Döntés 18">
            <a:extLst>
              <a:ext uri="{FF2B5EF4-FFF2-40B4-BE49-F238E27FC236}">
                <a16:creationId xmlns:a16="http://schemas.microsoft.com/office/drawing/2014/main" id="{ABEE650C-0CA2-0411-5564-C146AE8CA18A}"/>
              </a:ext>
            </a:extLst>
          </p:cNvPr>
          <p:cNvSpPr/>
          <p:nvPr/>
        </p:nvSpPr>
        <p:spPr bwMode="auto">
          <a:xfrm>
            <a:off x="3019241" y="3292495"/>
            <a:ext cx="2880000" cy="2880000"/>
          </a:xfrm>
          <a:prstGeom prst="flowChartDecision">
            <a:avLst/>
          </a:prstGeom>
          <a:gradFill>
            <a:gsLst>
              <a:gs pos="25000">
                <a:srgbClr val="C75E00"/>
              </a:gs>
              <a:gs pos="50000">
                <a:srgbClr val="DD8915"/>
              </a:gs>
              <a:gs pos="75000">
                <a:srgbClr val="C75E00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hu-HU" dirty="0"/>
          </a:p>
        </p:txBody>
      </p:sp>
      <p:sp>
        <p:nvSpPr>
          <p:cNvPr id="20" name="Folyamatábra: Döntés 19">
            <a:extLst>
              <a:ext uri="{FF2B5EF4-FFF2-40B4-BE49-F238E27FC236}">
                <a16:creationId xmlns:a16="http://schemas.microsoft.com/office/drawing/2014/main" id="{FE423707-F575-6B5F-A340-37097920E6CA}"/>
              </a:ext>
            </a:extLst>
          </p:cNvPr>
          <p:cNvSpPr/>
          <p:nvPr/>
        </p:nvSpPr>
        <p:spPr bwMode="auto">
          <a:xfrm>
            <a:off x="92419" y="3297255"/>
            <a:ext cx="2880000" cy="2880000"/>
          </a:xfrm>
          <a:prstGeom prst="flowChartDecision">
            <a:avLst/>
          </a:prstGeom>
          <a:gradFill>
            <a:gsLst>
              <a:gs pos="25000">
                <a:srgbClr val="C75E00"/>
              </a:gs>
              <a:gs pos="50000">
                <a:srgbClr val="DD8915"/>
              </a:gs>
              <a:gs pos="75000">
                <a:srgbClr val="C75E00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hu-HU" dirty="0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3F3E574A-24D0-B91E-23C9-18BF3649973A}"/>
              </a:ext>
            </a:extLst>
          </p:cNvPr>
          <p:cNvSpPr txBox="1"/>
          <p:nvPr/>
        </p:nvSpPr>
        <p:spPr>
          <a:xfrm>
            <a:off x="1579241" y="2976274"/>
            <a:ext cx="288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Rezgőtálcás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FB8E2E42-6C11-37A0-F336-01746BCF2909}"/>
              </a:ext>
            </a:extLst>
          </p:cNvPr>
          <p:cNvSpPr txBox="1"/>
          <p:nvPr/>
        </p:nvSpPr>
        <p:spPr>
          <a:xfrm>
            <a:off x="113449" y="4454374"/>
            <a:ext cx="288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Pneumatikus tömlő</a:t>
            </a: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E5A38F1C-ADD5-150D-6A56-FC44ABF7D8E6}"/>
              </a:ext>
            </a:extLst>
          </p:cNvPr>
          <p:cNvSpPr txBox="1"/>
          <p:nvPr/>
        </p:nvSpPr>
        <p:spPr>
          <a:xfrm>
            <a:off x="3014479" y="4454374"/>
            <a:ext cx="28557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Robotcellán kívül</a:t>
            </a:r>
          </a:p>
        </p:txBody>
      </p:sp>
      <p:pic>
        <p:nvPicPr>
          <p:cNvPr id="4098" name="Picture 2" descr="Vibratory Bowl Feeder Applications in Automation - Swoer Feeder ...">
            <a:extLst>
              <a:ext uri="{FF2B5EF4-FFF2-40B4-BE49-F238E27FC236}">
                <a16:creationId xmlns:a16="http://schemas.microsoft.com/office/drawing/2014/main" id="{61CB7A87-2AEC-0299-E047-943884240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457" y="2196013"/>
            <a:ext cx="5704603" cy="331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880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8C1138-C334-1F2D-63B2-C7B20C53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Villamos tervezés</a:t>
            </a:r>
          </a:p>
        </p:txBody>
      </p:sp>
      <p:pic>
        <p:nvPicPr>
          <p:cNvPr id="5124" name="Picture 4" descr="AX Kompakt-Schaltschrank von Rittal: Perfektion mit System">
            <a:extLst>
              <a:ext uri="{FF2B5EF4-FFF2-40B4-BE49-F238E27FC236}">
                <a16:creationId xmlns:a16="http://schemas.microsoft.com/office/drawing/2014/main" id="{6CDE1AF0-927A-FE67-BDF5-9DA8AD1F5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51" y="2731670"/>
            <a:ext cx="5219229" cy="391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Nyíl: sávnyíl 3">
            <a:extLst>
              <a:ext uri="{FF2B5EF4-FFF2-40B4-BE49-F238E27FC236}">
                <a16:creationId xmlns:a16="http://schemas.microsoft.com/office/drawing/2014/main" id="{5F19DA73-534D-8770-0030-0A64D50A4B09}"/>
              </a:ext>
            </a:extLst>
          </p:cNvPr>
          <p:cNvSpPr/>
          <p:nvPr/>
        </p:nvSpPr>
        <p:spPr bwMode="auto">
          <a:xfrm>
            <a:off x="224367" y="1502778"/>
            <a:ext cx="3213021" cy="981075"/>
          </a:xfrm>
          <a:prstGeom prst="chevron">
            <a:avLst/>
          </a:prstGeom>
          <a:gradFill>
            <a:gsLst>
              <a:gs pos="0">
                <a:srgbClr val="C76013"/>
              </a:gs>
              <a:gs pos="100000">
                <a:srgbClr val="E97A1F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Nyíl: sávnyíl 7">
            <a:extLst>
              <a:ext uri="{FF2B5EF4-FFF2-40B4-BE49-F238E27FC236}">
                <a16:creationId xmlns:a16="http://schemas.microsoft.com/office/drawing/2014/main" id="{3A3335CA-BC32-93C8-C373-0C6018941B43}"/>
              </a:ext>
            </a:extLst>
          </p:cNvPr>
          <p:cNvSpPr/>
          <p:nvPr/>
        </p:nvSpPr>
        <p:spPr bwMode="auto">
          <a:xfrm>
            <a:off x="3072342" y="1502778"/>
            <a:ext cx="3213021" cy="981075"/>
          </a:xfrm>
          <a:prstGeom prst="chevron">
            <a:avLst/>
          </a:prstGeom>
          <a:gradFill>
            <a:gsLst>
              <a:gs pos="0">
                <a:srgbClr val="E97A1F"/>
              </a:gs>
              <a:gs pos="100000">
                <a:srgbClr val="EB8531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Nyíl: sávnyíl 8">
            <a:extLst>
              <a:ext uri="{FF2B5EF4-FFF2-40B4-BE49-F238E27FC236}">
                <a16:creationId xmlns:a16="http://schemas.microsoft.com/office/drawing/2014/main" id="{2DC7EE00-0BF2-4826-BDE4-65883C1D7B0C}"/>
              </a:ext>
            </a:extLst>
          </p:cNvPr>
          <p:cNvSpPr/>
          <p:nvPr/>
        </p:nvSpPr>
        <p:spPr bwMode="auto">
          <a:xfrm>
            <a:off x="5920317" y="1502778"/>
            <a:ext cx="3213021" cy="981075"/>
          </a:xfrm>
          <a:prstGeom prst="chevron">
            <a:avLst/>
          </a:prstGeom>
          <a:gradFill>
            <a:gsLst>
              <a:gs pos="0">
                <a:srgbClr val="EB8531"/>
              </a:gs>
              <a:gs pos="100000">
                <a:srgbClr val="EE9A54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Nyíl: sávnyíl 9">
            <a:extLst>
              <a:ext uri="{FF2B5EF4-FFF2-40B4-BE49-F238E27FC236}">
                <a16:creationId xmlns:a16="http://schemas.microsoft.com/office/drawing/2014/main" id="{7A51E7C5-E6A0-B36B-95F8-B2ABA5051D70}"/>
              </a:ext>
            </a:extLst>
          </p:cNvPr>
          <p:cNvSpPr/>
          <p:nvPr/>
        </p:nvSpPr>
        <p:spPr bwMode="auto">
          <a:xfrm>
            <a:off x="8788479" y="1502778"/>
            <a:ext cx="3213021" cy="981075"/>
          </a:xfrm>
          <a:prstGeom prst="chevron">
            <a:avLst/>
          </a:prstGeom>
          <a:gradFill>
            <a:gsLst>
              <a:gs pos="0">
                <a:srgbClr val="EE9A54"/>
              </a:gs>
              <a:gs pos="100000">
                <a:srgbClr val="F1AA6F"/>
              </a:gs>
            </a:gsLst>
            <a:lin ang="0" scaled="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E180FB18-23DD-3C6F-6003-AF7B59EB81AC}"/>
              </a:ext>
            </a:extLst>
          </p:cNvPr>
          <p:cNvSpPr txBox="1"/>
          <p:nvPr/>
        </p:nvSpPr>
        <p:spPr>
          <a:xfrm>
            <a:off x="642368" y="1487686"/>
            <a:ext cx="23770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Bosch </a:t>
            </a:r>
            <a:r>
              <a:rPr lang="hu-HU" sz="3200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Rexroth</a:t>
            </a:r>
            <a:endParaRPr lang="hu-HU" sz="3200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0CAA4B0-38C0-E364-6900-8B6B9A377776}"/>
              </a:ext>
            </a:extLst>
          </p:cNvPr>
          <p:cNvSpPr txBox="1"/>
          <p:nvPr/>
        </p:nvSpPr>
        <p:spPr>
          <a:xfrm>
            <a:off x="3490345" y="1474203"/>
            <a:ext cx="24501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Villamos szekrény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10E1C55D-D118-0D6B-7678-E5875AD0B92F}"/>
              </a:ext>
            </a:extLst>
          </p:cNvPr>
          <p:cNvSpPr txBox="1"/>
          <p:nvPr/>
        </p:nvSpPr>
        <p:spPr>
          <a:xfrm>
            <a:off x="6180588" y="1472596"/>
            <a:ext cx="2650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320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hu-HU" dirty="0"/>
              <a:t>Kábel-elrendezés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CC1C9A18-EE91-45DA-0321-E1E99F4E3129}"/>
              </a:ext>
            </a:extLst>
          </p:cNvPr>
          <p:cNvSpPr txBox="1"/>
          <p:nvPr/>
        </p:nvSpPr>
        <p:spPr>
          <a:xfrm>
            <a:off x="9191038" y="1731704"/>
            <a:ext cx="2450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PROFINET</a:t>
            </a:r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7B6B70DE-AC54-89C9-C8C4-DCCC27F64415}"/>
              </a:ext>
            </a:extLst>
          </p:cNvPr>
          <p:cNvSpPr/>
          <p:nvPr/>
        </p:nvSpPr>
        <p:spPr bwMode="auto">
          <a:xfrm>
            <a:off x="8685296" y="5133474"/>
            <a:ext cx="3497179" cy="172452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28" name="Picture 4" descr="Axelent ipari gépbiztonsági rendszerek - JBX">
            <a:extLst>
              <a:ext uri="{FF2B5EF4-FFF2-40B4-BE49-F238E27FC236}">
                <a16:creationId xmlns:a16="http://schemas.microsoft.com/office/drawing/2014/main" id="{0C2352A3-5140-81F5-B4FB-63F986806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916" y="2731670"/>
            <a:ext cx="5871633" cy="391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480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B59B82-F625-A9DE-7B7D-65CCA973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3D szimuláció - szoftver</a:t>
            </a:r>
          </a:p>
        </p:txBody>
      </p:sp>
      <p:pic>
        <p:nvPicPr>
          <p:cNvPr id="6148" name="Picture 4" descr="Code for PLC information in KUKA sim - Robot Programming - Visual ...">
            <a:extLst>
              <a:ext uri="{FF2B5EF4-FFF2-40B4-BE49-F238E27FC236}">
                <a16:creationId xmlns:a16="http://schemas.microsoft.com/office/drawing/2014/main" id="{CCE8205B-78E6-7DF1-8588-ADB878C5D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328" y="2824497"/>
            <a:ext cx="7170672" cy="403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lyamatábra: Mágneslemez 5">
            <a:extLst>
              <a:ext uri="{FF2B5EF4-FFF2-40B4-BE49-F238E27FC236}">
                <a16:creationId xmlns:a16="http://schemas.microsoft.com/office/drawing/2014/main" id="{07CAC3F1-2B43-6ABB-A2A8-40131151177F}"/>
              </a:ext>
            </a:extLst>
          </p:cNvPr>
          <p:cNvSpPr/>
          <p:nvPr/>
        </p:nvSpPr>
        <p:spPr bwMode="auto">
          <a:xfrm>
            <a:off x="1190625" y="4914900"/>
            <a:ext cx="2943225" cy="1465263"/>
          </a:xfrm>
          <a:prstGeom prst="flowChartMagneticDisk">
            <a:avLst/>
          </a:prstGeom>
          <a:gradFill>
            <a:gsLst>
              <a:gs pos="0">
                <a:srgbClr val="E97A1F"/>
              </a:gs>
              <a:gs pos="100000">
                <a:srgbClr val="C75E00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Folyamatábra: Mágneslemez 6">
            <a:extLst>
              <a:ext uri="{FF2B5EF4-FFF2-40B4-BE49-F238E27FC236}">
                <a16:creationId xmlns:a16="http://schemas.microsoft.com/office/drawing/2014/main" id="{EAFC67E0-68FB-6387-C777-1D4A4635F17D}"/>
              </a:ext>
            </a:extLst>
          </p:cNvPr>
          <p:cNvSpPr/>
          <p:nvPr/>
        </p:nvSpPr>
        <p:spPr bwMode="auto">
          <a:xfrm>
            <a:off x="1190624" y="3297237"/>
            <a:ext cx="2943225" cy="1465263"/>
          </a:xfrm>
          <a:prstGeom prst="flowChartMagneticDisk">
            <a:avLst/>
          </a:prstGeom>
          <a:gradFill>
            <a:gsLst>
              <a:gs pos="0">
                <a:srgbClr val="E97A1F"/>
              </a:gs>
              <a:gs pos="100000">
                <a:srgbClr val="E97A1F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Folyamatábra: Mágneslemez 7">
            <a:extLst>
              <a:ext uri="{FF2B5EF4-FFF2-40B4-BE49-F238E27FC236}">
                <a16:creationId xmlns:a16="http://schemas.microsoft.com/office/drawing/2014/main" id="{53623623-9032-FCA2-5121-F63A8F5D5B66}"/>
              </a:ext>
            </a:extLst>
          </p:cNvPr>
          <p:cNvSpPr/>
          <p:nvPr/>
        </p:nvSpPr>
        <p:spPr bwMode="auto">
          <a:xfrm>
            <a:off x="1190624" y="1679574"/>
            <a:ext cx="2943225" cy="1465263"/>
          </a:xfrm>
          <a:prstGeom prst="flowChartMagneticDisk">
            <a:avLst/>
          </a:prstGeom>
          <a:gradFill flip="none" rotWithShape="1">
            <a:gsLst>
              <a:gs pos="0">
                <a:srgbClr val="C75E00"/>
              </a:gs>
              <a:gs pos="100000">
                <a:srgbClr val="E97A1F"/>
              </a:gs>
            </a:gsLst>
            <a:lin ang="54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B73E18B-5439-D0E2-C51F-221FC24A0824}"/>
              </a:ext>
            </a:extLst>
          </p:cNvPr>
          <p:cNvSpPr txBox="1"/>
          <p:nvPr/>
        </p:nvSpPr>
        <p:spPr>
          <a:xfrm>
            <a:off x="1190621" y="2087322"/>
            <a:ext cx="2943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Digitális Iker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8E975FFB-C0DF-127B-815A-14DFE0A725AA}"/>
              </a:ext>
            </a:extLst>
          </p:cNvPr>
          <p:cNvSpPr txBox="1"/>
          <p:nvPr/>
        </p:nvSpPr>
        <p:spPr>
          <a:xfrm>
            <a:off x="1190621" y="3903087"/>
            <a:ext cx="2943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KUKA.Sim</a:t>
            </a:r>
            <a:endParaRPr lang="hu-HU" sz="3200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31DB61C7-9006-CB7B-FC65-2BA3AB0DFD54}"/>
              </a:ext>
            </a:extLst>
          </p:cNvPr>
          <p:cNvSpPr txBox="1"/>
          <p:nvPr/>
        </p:nvSpPr>
        <p:spPr>
          <a:xfrm>
            <a:off x="1190622" y="5315964"/>
            <a:ext cx="2943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Ütközés-vizsgálat</a:t>
            </a:r>
          </a:p>
        </p:txBody>
      </p:sp>
    </p:spTree>
    <p:extLst>
      <p:ext uri="{BB962C8B-B14F-4D97-AF65-F5344CB8AC3E}">
        <p14:creationId xmlns:p14="http://schemas.microsoft.com/office/powerpoint/2010/main" val="2552507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81F30D-CDBB-7295-37B9-521ADEF51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Biztonságtechnika</a:t>
            </a:r>
          </a:p>
        </p:txBody>
      </p: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768FFB1C-29FE-37FB-E4A2-4B60DA53BF2C}"/>
              </a:ext>
            </a:extLst>
          </p:cNvPr>
          <p:cNvGrpSpPr/>
          <p:nvPr/>
        </p:nvGrpSpPr>
        <p:grpSpPr>
          <a:xfrm>
            <a:off x="1831991" y="1287463"/>
            <a:ext cx="8536502" cy="5216522"/>
            <a:chOff x="1831991" y="1287463"/>
            <a:chExt cx="8536502" cy="5216522"/>
          </a:xfrm>
          <a:gradFill flip="none" rotWithShape="1">
            <a:gsLst>
              <a:gs pos="50000">
                <a:srgbClr val="F1AA6F"/>
              </a:gs>
              <a:gs pos="0">
                <a:srgbClr val="C75E00"/>
              </a:gs>
              <a:gs pos="100000">
                <a:srgbClr val="C75E00"/>
              </a:gs>
            </a:gsLst>
            <a:lin ang="0" scaled="1"/>
            <a:tileRect/>
          </a:gradFill>
        </p:grpSpPr>
        <p:sp>
          <p:nvSpPr>
            <p:cNvPr id="4" name="Kereszt 3">
              <a:extLst>
                <a:ext uri="{FF2B5EF4-FFF2-40B4-BE49-F238E27FC236}">
                  <a16:creationId xmlns:a16="http://schemas.microsoft.com/office/drawing/2014/main" id="{D60F4E88-BA56-47AD-9DF7-12A5483B59AC}"/>
                </a:ext>
              </a:extLst>
            </p:cNvPr>
            <p:cNvSpPr/>
            <p:nvPr/>
          </p:nvSpPr>
          <p:spPr bwMode="auto">
            <a:xfrm>
              <a:off x="4449842" y="1287463"/>
              <a:ext cx="3292315" cy="2617786"/>
            </a:xfrm>
            <a:prstGeom prst="plus">
              <a:avLst/>
            </a:prstGeom>
            <a:grpFill/>
            <a:ln w="127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Kereszt 7">
              <a:extLst>
                <a:ext uri="{FF2B5EF4-FFF2-40B4-BE49-F238E27FC236}">
                  <a16:creationId xmlns:a16="http://schemas.microsoft.com/office/drawing/2014/main" id="{E488482D-22B0-8AE6-58CF-BA28F2E3D667}"/>
                </a:ext>
              </a:extLst>
            </p:cNvPr>
            <p:cNvSpPr/>
            <p:nvPr/>
          </p:nvSpPr>
          <p:spPr bwMode="auto">
            <a:xfrm>
              <a:off x="7094185" y="2596356"/>
              <a:ext cx="3274308" cy="2617786"/>
            </a:xfrm>
            <a:prstGeom prst="plus">
              <a:avLst/>
            </a:prstGeom>
            <a:grpFill/>
            <a:ln w="127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Kereszt 8">
              <a:extLst>
                <a:ext uri="{FF2B5EF4-FFF2-40B4-BE49-F238E27FC236}">
                  <a16:creationId xmlns:a16="http://schemas.microsoft.com/office/drawing/2014/main" id="{A1586B10-DF71-001D-2C33-4BDC1337764A}"/>
                </a:ext>
              </a:extLst>
            </p:cNvPr>
            <p:cNvSpPr/>
            <p:nvPr/>
          </p:nvSpPr>
          <p:spPr bwMode="auto">
            <a:xfrm>
              <a:off x="1831991" y="2586831"/>
              <a:ext cx="3274308" cy="2617786"/>
            </a:xfrm>
            <a:prstGeom prst="plus">
              <a:avLst/>
            </a:prstGeom>
            <a:grpFill/>
            <a:ln w="127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Kereszt 9">
              <a:extLst>
                <a:ext uri="{FF2B5EF4-FFF2-40B4-BE49-F238E27FC236}">
                  <a16:creationId xmlns:a16="http://schemas.microsoft.com/office/drawing/2014/main" id="{3D20DF28-3444-BA61-D2A6-13C3FF91CAD5}"/>
                </a:ext>
              </a:extLst>
            </p:cNvPr>
            <p:cNvSpPr/>
            <p:nvPr/>
          </p:nvSpPr>
          <p:spPr bwMode="auto">
            <a:xfrm>
              <a:off x="4449842" y="3886199"/>
              <a:ext cx="3301319" cy="2617786"/>
            </a:xfrm>
            <a:prstGeom prst="plus">
              <a:avLst>
                <a:gd name="adj" fmla="val 25364"/>
              </a:avLst>
            </a:prstGeom>
            <a:grpFill/>
            <a:ln w="12700" cap="flat" cmpd="sng" algn="ctr">
              <a:solidFill>
                <a:schemeClr val="tx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3B8046FC-1FB3-BC7E-017A-54EEA4DBC4B1}"/>
              </a:ext>
            </a:extLst>
          </p:cNvPr>
          <p:cNvSpPr txBox="1"/>
          <p:nvPr/>
        </p:nvSpPr>
        <p:spPr>
          <a:xfrm>
            <a:off x="4467849" y="2107826"/>
            <a:ext cx="3274308" cy="10464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Veszélyes </a:t>
            </a:r>
            <a:r>
              <a:rPr lang="hu-HU" sz="30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munkafolyamat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3C9E8FB8-9F8B-A68E-7261-D3BC69875A4A}"/>
              </a:ext>
            </a:extLst>
          </p:cNvPr>
          <p:cNvSpPr txBox="1"/>
          <p:nvPr/>
        </p:nvSpPr>
        <p:spPr>
          <a:xfrm>
            <a:off x="1855804" y="3375035"/>
            <a:ext cx="3274308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Biztonsági ajtók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DD30E1A0-BD03-1944-D955-9D34336994E5}"/>
              </a:ext>
            </a:extLst>
          </p:cNvPr>
          <p:cNvSpPr txBox="1"/>
          <p:nvPr/>
        </p:nvSpPr>
        <p:spPr>
          <a:xfrm>
            <a:off x="7094185" y="3164353"/>
            <a:ext cx="3274308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30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Virtuális falak, karbantartási sebesség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73B5429B-C4C9-7729-7BCB-95BFF521960B}"/>
              </a:ext>
            </a:extLst>
          </p:cNvPr>
          <p:cNvSpPr txBox="1"/>
          <p:nvPr/>
        </p:nvSpPr>
        <p:spPr>
          <a:xfrm>
            <a:off x="4464129" y="4692323"/>
            <a:ext cx="3274308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Vészleállító rendszer</a:t>
            </a:r>
          </a:p>
        </p:txBody>
      </p:sp>
    </p:spTree>
    <p:extLst>
      <p:ext uri="{BB962C8B-B14F-4D97-AF65-F5344CB8AC3E}">
        <p14:creationId xmlns:p14="http://schemas.microsoft.com/office/powerpoint/2010/main" val="2259771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B1B84A-F98B-32C6-D4AA-FD43722A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Alternatíva</a:t>
            </a:r>
          </a:p>
        </p:txBody>
      </p:sp>
      <p:pic>
        <p:nvPicPr>
          <p:cNvPr id="8196" name="Picture 4" descr="IRB 6700-235/2.65-关节型机器人-产品中心-ABB机器人">
            <a:extLst>
              <a:ext uri="{FF2B5EF4-FFF2-40B4-BE49-F238E27FC236}">
                <a16:creationId xmlns:a16="http://schemas.microsoft.com/office/drawing/2014/main" id="{D846AFC7-6B24-2D49-228B-A60309CCA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2349501"/>
            <a:ext cx="451485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B4C6BD73-3E02-B3A4-9F32-9E76577CAC02}"/>
              </a:ext>
            </a:extLst>
          </p:cNvPr>
          <p:cNvGrpSpPr/>
          <p:nvPr/>
        </p:nvGrpSpPr>
        <p:grpSpPr>
          <a:xfrm>
            <a:off x="166157" y="1906587"/>
            <a:ext cx="8419913" cy="4000498"/>
            <a:chOff x="1785407" y="2600326"/>
            <a:chExt cx="7487713" cy="3557589"/>
          </a:xfrm>
          <a:gradFill flip="none" rotWithShape="1">
            <a:gsLst>
              <a:gs pos="50000">
                <a:srgbClr val="EB8531"/>
              </a:gs>
              <a:gs pos="0">
                <a:srgbClr val="CB6614"/>
              </a:gs>
              <a:gs pos="100000">
                <a:srgbClr val="C76013"/>
              </a:gs>
            </a:gsLst>
            <a:lin ang="18900000" scaled="1"/>
            <a:tileRect/>
          </a:gradFill>
        </p:grpSpPr>
        <p:sp>
          <p:nvSpPr>
            <p:cNvPr id="11" name="Téglalap 10">
              <a:extLst>
                <a:ext uri="{FF2B5EF4-FFF2-40B4-BE49-F238E27FC236}">
                  <a16:creationId xmlns:a16="http://schemas.microsoft.com/office/drawing/2014/main" id="{0ECEBFC8-1B2D-2993-7DE6-B0F99817AF29}"/>
                </a:ext>
              </a:extLst>
            </p:cNvPr>
            <p:cNvSpPr/>
            <p:nvPr/>
          </p:nvSpPr>
          <p:spPr bwMode="auto">
            <a:xfrm>
              <a:off x="2838450" y="3314700"/>
              <a:ext cx="5372100" cy="21336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L alak 11">
              <a:extLst>
                <a:ext uri="{FF2B5EF4-FFF2-40B4-BE49-F238E27FC236}">
                  <a16:creationId xmlns:a16="http://schemas.microsoft.com/office/drawing/2014/main" id="{57ACAFD4-AE2A-6157-27F2-5938A8970E95}"/>
                </a:ext>
              </a:extLst>
            </p:cNvPr>
            <p:cNvSpPr/>
            <p:nvPr/>
          </p:nvSpPr>
          <p:spPr bwMode="auto">
            <a:xfrm rot="5400000">
              <a:off x="3104619" y="1281114"/>
              <a:ext cx="2162175" cy="4800600"/>
            </a:xfrm>
            <a:prstGeom prst="corner">
              <a:avLst>
                <a:gd name="adj1" fmla="val 49119"/>
                <a:gd name="adj2" fmla="val 33089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L alak 12">
              <a:extLst>
                <a:ext uri="{FF2B5EF4-FFF2-40B4-BE49-F238E27FC236}">
                  <a16:creationId xmlns:a16="http://schemas.microsoft.com/office/drawing/2014/main" id="{75383C43-5B81-E86B-0D1C-D01053F6ED63}"/>
                </a:ext>
              </a:extLst>
            </p:cNvPr>
            <p:cNvSpPr/>
            <p:nvPr/>
          </p:nvSpPr>
          <p:spPr bwMode="auto">
            <a:xfrm rot="16200000">
              <a:off x="5791732" y="2676528"/>
              <a:ext cx="2162175" cy="4800600"/>
            </a:xfrm>
            <a:prstGeom prst="corner">
              <a:avLst>
                <a:gd name="adj1" fmla="val 49119"/>
                <a:gd name="adj2" fmla="val 33089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hu-H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22400DD6-218D-48EE-DFFC-B5BF73C29F6E}"/>
              </a:ext>
            </a:extLst>
          </p:cNvPr>
          <p:cNvSpPr txBox="1"/>
          <p:nvPr/>
        </p:nvSpPr>
        <p:spPr>
          <a:xfrm>
            <a:off x="2418132" y="3467010"/>
            <a:ext cx="3905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ABB IRB 6700-235/2.65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8D35CE89-2E83-7971-4A91-0CA7950538C3}"/>
              </a:ext>
            </a:extLst>
          </p:cNvPr>
          <p:cNvSpPr txBox="1"/>
          <p:nvPr/>
        </p:nvSpPr>
        <p:spPr>
          <a:xfrm>
            <a:off x="166156" y="2014744"/>
            <a:ext cx="5398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Hasonló </a:t>
            </a:r>
            <a:r>
              <a:rPr lang="hu-HU" sz="3600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eszöz</a:t>
            </a:r>
            <a:endParaRPr lang="hu-HU" sz="3600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E7196BF8-E26C-4C3B-DAD6-52CDF126CFEE}"/>
              </a:ext>
            </a:extLst>
          </p:cNvPr>
          <p:cNvSpPr txBox="1"/>
          <p:nvPr/>
        </p:nvSpPr>
        <p:spPr>
          <a:xfrm>
            <a:off x="3187994" y="5194465"/>
            <a:ext cx="5398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 err="1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RobotStudio</a:t>
            </a:r>
            <a:endParaRPr lang="hu-HU" sz="3600" dirty="0">
              <a:solidFill>
                <a:schemeClr val="tx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02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4C5A2C-9FD0-2448-D189-EB29AC0C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 és utóélet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34C80A12-8632-6AD3-3260-418F0134BC88}"/>
              </a:ext>
            </a:extLst>
          </p:cNvPr>
          <p:cNvSpPr/>
          <p:nvPr/>
        </p:nvSpPr>
        <p:spPr bwMode="auto">
          <a:xfrm>
            <a:off x="8685296" y="5133474"/>
            <a:ext cx="3497179" cy="172452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49911EF-36B0-B562-1601-9B7183CE3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423" y="1600086"/>
            <a:ext cx="7963577" cy="4448404"/>
          </a:xfrm>
          <a:prstGeom prst="rect">
            <a:avLst/>
          </a:prstGeom>
        </p:spPr>
      </p:pic>
      <p:sp>
        <p:nvSpPr>
          <p:cNvPr id="5" name="Beszédbuborék: ellipszis 4">
            <a:extLst>
              <a:ext uri="{FF2B5EF4-FFF2-40B4-BE49-F238E27FC236}">
                <a16:creationId xmlns:a16="http://schemas.microsoft.com/office/drawing/2014/main" id="{CAE87486-AC4D-758B-DDB0-348A1346CF18}"/>
              </a:ext>
            </a:extLst>
          </p:cNvPr>
          <p:cNvSpPr/>
          <p:nvPr/>
        </p:nvSpPr>
        <p:spPr bwMode="auto">
          <a:xfrm>
            <a:off x="527050" y="1447800"/>
            <a:ext cx="3454399" cy="2114550"/>
          </a:xfrm>
          <a:prstGeom prst="wedgeEllipseCallout">
            <a:avLst>
              <a:gd name="adj1" fmla="val -54197"/>
              <a:gd name="adj2" fmla="val 62500"/>
            </a:avLst>
          </a:prstGeom>
          <a:gradFill flip="none" rotWithShape="1">
            <a:gsLst>
              <a:gs pos="50000">
                <a:srgbClr val="ED954D"/>
              </a:gs>
              <a:gs pos="0">
                <a:srgbClr val="C75E00"/>
              </a:gs>
              <a:gs pos="100000">
                <a:srgbClr val="C75E00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Beszédbuborék: ellipszis 5">
            <a:extLst>
              <a:ext uri="{FF2B5EF4-FFF2-40B4-BE49-F238E27FC236}">
                <a16:creationId xmlns:a16="http://schemas.microsoft.com/office/drawing/2014/main" id="{4F24DBF2-7C80-E9AA-6118-98CD54B48B09}"/>
              </a:ext>
            </a:extLst>
          </p:cNvPr>
          <p:cNvSpPr/>
          <p:nvPr/>
        </p:nvSpPr>
        <p:spPr bwMode="auto">
          <a:xfrm>
            <a:off x="542924" y="3989388"/>
            <a:ext cx="3454399" cy="2114550"/>
          </a:xfrm>
          <a:prstGeom prst="wedgeEllipseCallout">
            <a:avLst>
              <a:gd name="adj1" fmla="val 50859"/>
              <a:gd name="adj2" fmla="val 56644"/>
            </a:avLst>
          </a:prstGeom>
          <a:gradFill>
            <a:gsLst>
              <a:gs pos="50000">
                <a:srgbClr val="ED954D"/>
              </a:gs>
              <a:gs pos="0">
                <a:srgbClr val="C75E00"/>
              </a:gs>
              <a:gs pos="100000">
                <a:srgbClr val="C75E00"/>
              </a:gs>
            </a:gsLst>
            <a:path path="circle">
              <a:fillToRect l="50000" t="50000" r="50000" b="50000"/>
            </a:path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7BB24F93-9073-8E24-05DE-3973E4BE6AA4}"/>
              </a:ext>
            </a:extLst>
          </p:cNvPr>
          <p:cNvSpPr txBox="1"/>
          <p:nvPr/>
        </p:nvSpPr>
        <p:spPr>
          <a:xfrm>
            <a:off x="527050" y="1899969"/>
            <a:ext cx="3454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Ipari csavarozó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84F2165-7055-8395-E965-85F5779B202A}"/>
              </a:ext>
            </a:extLst>
          </p:cNvPr>
          <p:cNvSpPr txBox="1"/>
          <p:nvPr/>
        </p:nvSpPr>
        <p:spPr>
          <a:xfrm>
            <a:off x="542924" y="4686300"/>
            <a:ext cx="343852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tx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Szakdolgozat és valóság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84817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477A87-DD63-6BED-647E-18B5CB57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466" y="3175000"/>
            <a:ext cx="9889067" cy="508000"/>
          </a:xfrm>
        </p:spPr>
        <p:txBody>
          <a:bodyPr/>
          <a:lstStyle/>
          <a:p>
            <a:pPr algn="ctr"/>
            <a:r>
              <a:rPr lang="hu-HU" sz="6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Köszönöm a figyelmet! 🤖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96BDFE14-8A70-3F7C-25F0-470F5989BD0F}"/>
              </a:ext>
            </a:extLst>
          </p:cNvPr>
          <p:cNvSpPr/>
          <p:nvPr/>
        </p:nvSpPr>
        <p:spPr bwMode="auto">
          <a:xfrm>
            <a:off x="8694821" y="5133474"/>
            <a:ext cx="3497179" cy="172452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79684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153</TotalTime>
  <Words>122</Words>
  <Application>Microsoft Office PowerPoint</Application>
  <PresentationFormat>Szélesvásznú</PresentationFormat>
  <Paragraphs>49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Franklin Gothic Book</vt:lpstr>
      <vt:lpstr>template</vt:lpstr>
      <vt:lpstr>Robotcella tervezés </vt:lpstr>
      <vt:lpstr>A projekt röviden</vt:lpstr>
      <vt:lpstr>Csavarozási módszer</vt:lpstr>
      <vt:lpstr>A robot, és vezérlője</vt:lpstr>
      <vt:lpstr>Csavarozó egység</vt:lpstr>
      <vt:lpstr>Csavaradagoló</vt:lpstr>
      <vt:lpstr>Villamos tervezés</vt:lpstr>
      <vt:lpstr>3D szimuláció - szoftver</vt:lpstr>
      <vt:lpstr>Biztonságtechnika</vt:lpstr>
      <vt:lpstr>Alternatíva</vt:lpstr>
      <vt:lpstr>Összegzés és utóélet</vt:lpstr>
      <vt:lpstr>Köszönöm a figyelmet! 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Mátyás Pintér</dc:creator>
  <cp:lastModifiedBy>Mátyás Pintér</cp:lastModifiedBy>
  <cp:revision>18</cp:revision>
  <dcterms:created xsi:type="dcterms:W3CDTF">2026-05-03T21:28:45Z</dcterms:created>
  <dcterms:modified xsi:type="dcterms:W3CDTF">2026-05-04T06:47:13Z</dcterms:modified>
</cp:coreProperties>
</file>